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时间复杂度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用增长率刻画算法效率</a:t>
            </a:r>
            <a:br/>
            <a:br/>
            <a:r>
              <a:rPr/>
              <a:t>数据结构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学完本节，你能够：</a:t>
            </a:r>
          </a:p>
          <a:p>
            <a:pPr lvl="0"/>
            <a:r>
              <a:rPr/>
              <a:t>解释时间复杂度为什么关注</a:t>
            </a:r>
            <a:r>
              <a:rPr b="1"/>
              <a:t>规模增大时</a:t>
            </a:r>
            <a:r>
              <a:rPr/>
              <a:t>的运行趋势</a:t>
            </a:r>
          </a:p>
          <a:p>
            <a:pPr lvl="0"/>
            <a:r>
              <a:rPr/>
              <a:t>使用大 O 记号描述常见算法的时间复杂度</a:t>
            </a:r>
          </a:p>
          <a:p>
            <a:pPr lvl="0"/>
            <a:r>
              <a:rPr/>
              <a:t>通过循环结构分析一段 Python 代码</a:t>
            </a:r>
          </a:p>
          <a:p>
            <a:pPr lvl="0"/>
            <a:r>
              <a:rPr/>
              <a:t>比较不同算法并选择更合适的方案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一个问题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在一组无序数据中查找目标值：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contains(values, target):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value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values: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value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target:</a:t>
            </a:r>
            <a:br/>
            <a:r>
              <a:rPr>
                <a:latin typeface="Courier"/>
              </a:rPr>
              <a:t>    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True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br/>
            <a:br/>
            <a:r>
              <a:rPr>
                <a:latin typeface="Courier"/>
              </a:rPr>
              <a:t>values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]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(contains(values,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))</a:t>
            </a:r>
          </a:p>
          <a:p>
            <a:pPr lvl="0" indent="0">
              <a:buNone/>
            </a:pPr>
            <a:r>
              <a:rPr>
                <a:latin typeface="Courier"/>
              </a:rPr>
              <a:t>True</a:t>
            </a:r>
          </a:p>
          <a:p>
            <a:pPr lvl="0" indent="0" marL="0">
              <a:buNone/>
            </a:pPr>
            <a:r>
              <a:rPr/>
              <a:t>当列表长度从 10 增加到 1 000 000 时，程序会发生什么变化？</a:t>
            </a:r>
          </a:p>
          <a:p>
            <a:pPr lvl="0" indent="0" marL="0">
              <a:buNone/>
            </a:pPr>
            <a:r>
              <a:rPr/>
              <a:t>最坏情况下，要比较列表中的每一个元素。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什么是时间复杂度？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时间复杂度</a:t>
                </a:r>
                <a:r>
                  <a:rPr/>
                  <a:t>描述算法执行次数随输入规模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增长的变化趋势。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算法基本操作的执行次数</m:t>
                      </m:r>
                    </m:oMath>
                  </m:oMathPara>
                </a14:m>
              </a:p>
              <a:p>
                <a:pPr lvl="0"/>
                <a:r>
                  <a:rPr/>
                  <a:t>它不是某台电脑上的实际秒数</a:t>
                </a:r>
              </a:p>
              <a:p>
                <a:pPr lvl="0"/>
                <a:r>
                  <a:rPr/>
                  <a:t>它关注输入足够大时的增长速度</a:t>
                </a:r>
              </a:p>
              <a:p>
                <a:pPr lvl="0"/>
                <a:r>
                  <a:rPr/>
                  <a:t>它帮助我们在运行程序前比较算法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为什么不直接计时？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实际运行时间会受很多因素影响：</a:t>
            </a:r>
          </a:p>
          <a:p>
            <a:pPr lvl="0"/>
            <a:r>
              <a:rPr/>
              <a:t>CPU、内存和操作系统</a:t>
            </a:r>
          </a:p>
          <a:p>
            <a:pPr lvl="0"/>
            <a:r>
              <a:rPr/>
              <a:t>编程语言与编译/解释方式</a:t>
            </a:r>
          </a:p>
          <a:p>
            <a:pPr lvl="0"/>
            <a:r>
              <a:rPr/>
              <a:t>输入数据的具体内容</a:t>
            </a:r>
          </a:p>
          <a:p>
            <a:pPr lvl="0" indent="0" marL="0">
              <a:buNone/>
            </a:pPr>
            <a:r>
              <a:rPr/>
              <a:t>时间复杂度剥离这些偶然因素，只保留与问题规模有关的核心规律。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大 O 记号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若存在常数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 和 </a:t>
                </a:r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，使得当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≥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时：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0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≤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则记作：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直观地说：当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很大时，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的增长不会比 </a:t>
                </a:r>
                <a14:m>
                  <m:oMath xmlns:m="http://schemas.openxmlformats.org/officeDocument/2006/math">
                    <m:r>
                      <m:t>f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更快。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化简规则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忽略常数因子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3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100</m:t>
                      </m:r>
                      <m:sSup>
                        <m:e>
                          <m:r>
                            <m:t>n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n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保留最高阶项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e>
                          <m:r>
                            <m:t>n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r>
                        <m:t>20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n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1270000">
                  <a:buNone/>
                </a:pPr>
                <a:r>
                  <a:rPr sz="2000" b="1"/>
                  <a:t>Important</a:t>
                </a:r>
              </a:p>
              <a:p>
                <a:pPr lvl="0" indent="0" marL="1270000">
                  <a:buNone/>
                </a:pPr>
                <a:r>
                  <a:rPr sz="2000"/>
                  <a:t>大 O 描述增长等级，不是精确的执行次数。</a:t>
                </a:r>
              </a:p>
            </p:txBody>
          </p:sp>
        </mc:Choice>
      </mc:AlternateContent>
    </p:spTree>
  </p:cSld>
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常见增长率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时间复杂度</a:t></a:r></a:p></a:txBody><a:tcPr /></a:tc><a:tc><a:txBody><a:bodyPr /><a:lstStyle /><a:p><a:pPr lvl="0" indent="0" marL="0"><a:buNone /></a:pPr><a:r><a:rPr /><a:t>名称</a:t></a:r></a:p></a:txBody><a:tcPr /></a:tc><a:tc><a:txBody><a:bodyPr /><a:lstStyle /><a:p><a:pPr lvl="0" indent="0" marL="0"><a:buNone /></a:pPr><a:r><a:rPr /><a:t>典型例子</a:t></a:r></a:p></a:txBody><a:tcPr /></a:tc></a:tr><a:tr h="0"><a:tc><a:txBody><a:bodyPr /><a:lstStyle /><a:p><a:pPr lvl="0" indent="0" marL="0"><a:buNone /></a:pPr><a14:m><m:oMath xmlns:m="http://schemas.openxmlformats.org/officeDocument/2006/math"><m:r><m:t>O</m:t></m:r><m:r><m:rPr><m:sty m:val="p" /></m:rPr><m:t>(</m:t></m:r><m:r><m:t>1</m:t></m:r><m:r><m:rPr><m:sty m:val="p" /></m:rPr><m:t>)</m:t></m:r></m:oMath></a14:m></a:p></a:txBody></a:tc><a:tc><a:txBody><a:bodyPr /><a:lstStyle /><a:p><a:pPr lvl="0" indent="0" marL="0"><a:buNone /></a:pPr><a:r><a:rPr /><a:t>常数时间</a:t></a:r></a:p></a:txBody></a:tc><a:tc><a:txBody><a:bodyPr /><a:lstStyle /><a:p><a:pPr lvl="0" indent="0" marL="0"><a:buNone /></a:pPr><a:r><a:rPr /><a:t>按下标访问列表元素</a:t></a:r></a:p></a:txBody></a:tc></a:tr><a:tr h="0"><a:tc><a:txBody><a:bodyPr /><a:lstStyle /><a:p><a:pPr lvl="0" indent="0" marL="0"><a:buNone /></a:pPr><a14:m><m:oMath xmlns:m="http://schemas.openxmlformats.org/officeDocument/2006/math"><m:r><m:t>O</m:t></m:r><m:r><m:rPr><m:sty m:val="p" /></m:rPr><m:t>(</m:t></m:r><m:r><m:rPr><m:sty m:val="p" /></m:rPr><m:t>log</m:t></m:r><m:r><m:t>n</m:t></m:r><m:r><m:rPr><m:sty m:val="p" /></m:rPr><m:t>)</m:t></m:r></m:oMath></a14:m></a:p></a:txBody></a:tc><a:tc><a:txBody><a:bodyPr /><a:lstStyle /><a:p><a:pPr lvl="0" indent="0" marL="0"><a:buNone /></a:pPr><a:r><a:rPr /><a:t>对数时间</a:t></a:r></a:p></a:txBody></a:tc><a:tc><a:txBody><a:bodyPr /><a:lstStyle /><a:p><a:pPr lvl="0" indent="0" marL="0"><a:buNone /></a:pPr><a:r><a:rPr /><a:t>二分查找</a:t></a:r></a:p></a:txBody></a:tc></a:tr><a:tr h="0"><a:tc><a:txBody><a:bodyPr /><a:lstStyle /><a:p><a:pPr lvl="0" indent="0" marL="0"><a:buNone /></a:pPr><a14:m><m:oMath xmlns:m="http://schemas.openxmlformats.org/officeDocument/2006/math"><m:r><m:t>O</m:t></m:r><m:r><m:rPr><m:sty m:val="p" /></m:rPr><m:t>(</m:t></m:r><m:r><m:t>n</m:t></m:r><m:r><m:rPr><m:sty m:val="p" /></m:rPr><m:t>)</m:t></m:r></m:oMath></a14:m></a:p></a:txBody></a:tc><a:tc><a:txBody><a:bodyPr /><a:lstStyle /><a:p><a:pPr lvl="0" indent="0" marL="0"><a:buNone /></a:pPr><a:r><a:rPr /><a:t>线性时间</a:t></a:r></a:p></a:txBody></a:tc><a:tc><a:txBody><a:bodyPr /><a:lstStyle /><a:p><a:pPr lvl="0" indent="0" marL="0"><a:buNone /></a:pPr><a:r><a:rPr /><a:t>遍历列表</a:t></a:r></a:p></a:txBody></a:tc></a:tr><a:tr h="0"><a:tc><a:txBody><a:bodyPr /><a:lstStyle /><a:p><a:pPr lvl="0" indent="0" marL="0"><a:buNone /></a:pPr><a14:m><m:oMath xmlns:m="http://schemas.openxmlformats.org/officeDocument/2006/math"><m:r><m:t>O</m:t></m:r><m:r><m:rPr><m:sty m:val="p" /></m:rPr><m:t>(</m:t></m:r><m:r><m:t>n</m:t></m:r><m:r><m:rPr><m:sty m:val="p" /></m:rPr><m:t>log</m:t></m:r><m:r><m:t>n</m:t></m:r><m:r><m:rPr><m:sty m:val="p" /></m:rPr><m:t>)</m:t></m:r></m:oMath></a14:m></a:p></a:txBody></a:tc><a:tc><a:txBody><a:bodyPr /><a:lstStyle /><a:p><a:pPr lvl="0" indent="0" marL="0"><a:buNone /></a:pPr><a:r><a:rPr /><a:t>线性对数时间</a:t></a:r></a:p></a:txBody></a:tc><a:tc><a:txBody><a:bodyPr /><a:lstStyle /><a:p><a:pPr lvl="0" indent="0" marL="0"><a:buNone /></a:pPr><a:r><a:rPr /><a:t>高效排序</a:t></a:r></a:p></a:txBody></a:tc></a:tr><a:tr h="0"><a:tc><a:txBody><a:bodyPr /><a:lstStyle /><a:p><a:pPr lvl="0" indent="0" marL="0"><a:buNone /></a:pPr><a14:m><m:oMath xmlns:m="http://schemas.openxmlformats.org/officeDocument/2006/math"><m:r><m:t>O</m:t></m:r><m:r><m:rPr><m:sty m:val="p" /></m:rPr><m:t>(</m:t></m:r><m:sSup><m:e><m:r><m:t>n</m:t></m:r></m:e><m:sup><m:r><m:t>2</m:t></m:r></m:sup></m:sSup><m:r><m:rPr><m:sty m:val="p" /></m:rPr><m:t>)</m:t></m:r></m:oMath></a14:m></a:p></a:txBody></a:tc><a:tc><a:txBody><a:bodyPr /><a:lstStyle /><a:p><a:pPr lvl="0" indent="0" marL="0"><a:buNone /></a:pPr><a:r><a:rPr /><a:t>平方时间</a:t></a:r></a:p></a:txBody></a:tc><a:tc><a:txBody><a:bodyPr /><a:lstStyle /><a:p><a:pPr lvl="0" indent="0" marL="0"><a:buNone /></a:pPr><a:r><a:rPr /><a:t>简单的双重比较</a:t></a:r></a:p></a:txBody></a:tc></a:tr><a:tr h="0"><a:tc><a:txBody><a:bodyPr /><a:lstStyle /><a:p><a:pPr lvl="0" indent="0" marL="0"><a:buNone /></a:pPr><a14:m><m:oMath xmlns:m="http://schemas.openxmlformats.org/officeDocument/2006/math"><m:r><m:t>O</m:t></m:r><m:r><m:rPr><m:sty m:val="p" /></m:rPr><m:t>(</m:t></m:r><m:sSup><m:e><m:r><m:t>2</m:t></m:r></m:e><m:sup><m:r><m:t>n</m:t></m:r></m:sup></m:sSup><m:r><m:rPr><m:sty m:val="p" /></m:rPr><m:t>)</m:t></m:r></m:oMath></a14:m></a:p></a:txBody></a:tc><a:tc><a:txBody><a:bodyPr /><a:lstStyle /><a:p><a:pPr lvl="0" indent="0" marL="0"><a:buNone /></a:pPr><a:r><a:rPr /><a:t>指数时间</a:t></a:r></a:p></a:txBody></a:tc><a:tc><a:txBody><a:bodyPr /><a:lstStyle /><a:p><a:pPr lvl="0" indent="0" marL="0"><a:buNone /></a:pPr><a:r><a:rPr /><a:t>枚举所有子集</a:t></a:r></a:p></a:txBody></a:tc></a:tr></a:tbl></a:graphicData></a:graphic></p:graphicFrame></p:spTree></p:cSld></p:sld>
</file>

<file path=ppt/slides/slide9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增长率的差异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1371600" /><a:gridCol w="1371600" /><a:gridCol w="1371600" /><a:gridCol w="1371600" /><a:gridCol w="1371600" /><a:gridCol w="1371600" /></a:tblGrid><a:tr h="0"><a:tc><a:txBody><a:bodyPr /><a:lstStyle /><a:p><a:pPr lvl="0" indent="0" marL="0" algn="r"><a:buNone /></a:pPr><a14:m><m:oMath xmlns:m="http://schemas.openxmlformats.org/officeDocument/2006/math"><m:r><m:t>n</m:t></m:r></m:oMath></a14:m></a:p></a:txBody><a:tcPr /></a:tc><a:tc><a:txBody><a:bodyPr /><a:lstStyle /><a:p><a:pPr lvl="0" indent="0" marL="0" algn="r"><a:buNone /></a:pPr><a14:m><m:oMath xmlns:m="http://schemas.openxmlformats.org/officeDocument/2006/math"><m:sSub><m:e><m:r><m:rPr><m:sty m:val="p" /></m:rPr><m:t>log</m:t></m:r></m:e><m:sub><m:r><m:t>2</m:t></m:r></m:sub></m:sSub><m:r><m:t>n</m:t></m:r></m:oMath></a14:m></a:p></a:txBody><a:tcPr /></a:tc><a:tc><a:txBody><a:bodyPr /><a:lstStyle /><a:p><a:pPr lvl="0" indent="0" marL="0" algn="r"><a:buNone /></a:pPr><a14:m><m:oMath xmlns:m="http://schemas.openxmlformats.org/officeDocument/2006/math"><m:r><m:t>n</m:t></m:r></m:oMath></a14:m></a:p></a:txBody><a:tcPr /></a:tc><a:tc><a:txBody><a:bodyPr /><a:lstStyle /><a:p><a:pPr lvl="0" indent="0" marL="0" algn="r"><a:buNone /></a:pPr><a14:m><m:oMath xmlns:m="http://schemas.openxmlformats.org/officeDocument/2006/math"><m:r><m:t>n</m:t></m:r><m:sSub><m:e><m:r><m:rPr><m:sty m:val="p" /></m:rPr><m:t>log</m:t></m:r></m:e><m:sub><m:r><m:t>2</m:t></m:r></m:sub></m:sSub><m:r><m:t>n</m:t></m:r></m:oMath></a14:m></a:p></a:txBody><a:tcPr /></a:tc><a:tc><a:txBody><a:bodyPr /><a:lstStyle /><a:p><a:pPr lvl="0" indent="0" marL="0" algn="r"><a:buNone /></a:pPr><a14:m><m:oMath xmlns:m="http://schemas.openxmlformats.org/officeDocument/2006/math"><m:sSup><m:e><m:r><m:t>n</m:t></m:r></m:e><m:sup><m:r><m:t>2</m:t></m:r></m:sup></m:sSup></m:oMath></a14:m></a:p></a:txBody><a:tcPr /></a:tc><a:tc><a:txBody><a:bodyPr /><a:lstStyle /><a:p><a:pPr lvl="0" indent="0" marL="0" algn="r"><a:buNone /></a:pPr><a14:m><m:oMath xmlns:m="http://schemas.openxmlformats.org/officeDocument/2006/math"><m:sSup><m:e><m:r><m:t>2</m:t></m:r></m:e><m:sup><m:r><m:t>n</m:t></m:r></m:sup></m:sSup></m:oMath></a14:m></a:p></a:txBody><a:tcPr /></a:tc></a:tr><a:tr h="0"><a:tc><a:txBody><a:bodyPr /><a:lstStyle /><a:p><a:pPr lvl="0" indent="0" marL="0" algn="r"><a:buNone /></a:pPr><a:r><a:rPr /><a:t>10</a:t></a:r></a:p></a:txBody></a:tc><a:tc><a:txBody><a:bodyPr /><a:lstStyle /><a:p><a:pPr lvl="0" indent="0" marL="0" algn="r"><a:buNone /></a:pPr><a:r><a:rPr /><a:t>3</a:t></a:r></a:p></a:txBody></a:tc><a:tc><a:txBody><a:bodyPr /><a:lstStyle /><a:p><a:pPr lvl="0" indent="0" marL="0" algn="r"><a:buNone /></a:pPr><a:r><a:rPr /><a:t>10</a:t></a:r></a:p></a:txBody></a:tc><a:tc><a:txBody><a:bodyPr /><a:lstStyle /><a:p><a:pPr lvl="0" indent="0" marL="0" algn="r"><a:buNone /></a:pPr><a:r><a:rPr /><a:t>33</a:t></a:r></a:p></a:txBody></a:tc><a:tc><a:txBody><a:bodyPr /><a:lstStyle /><a:p><a:pPr lvl="0" indent="0" marL="0" algn="r"><a:buNone /></a:pPr><a:r><a:rPr /><a:t>100</a:t></a:r></a:p></a:txBody></a:tc><a:tc><a:txBody><a:bodyPr /><a:lstStyle /><a:p><a:pPr lvl="0" indent="0" marL="0" algn="r"><a:buNone /></a:pPr><a:r><a:rPr /><a:t>1 024</a:t></a:r></a:p></a:txBody></a:tc></a:tr><a:tr h="0"><a:tc><a:txBody><a:bodyPr /><a:lstStyle /><a:p><a:pPr lvl="0" indent="0" marL="0" algn="r"><a:buNone /></a:pPr><a:r><a:rPr /><a:t>100</a:t></a:r></a:p></a:txBody></a:tc><a:tc><a:txBody><a:bodyPr /><a:lstStyle /><a:p><a:pPr lvl="0" indent="0" marL="0" algn="r"><a:buNone /></a:pPr><a:r><a:rPr /><a:t>7</a:t></a:r></a:p></a:txBody></a:tc><a:tc><a:txBody><a:bodyPr /><a:lstStyle /><a:p><a:pPr lvl="0" indent="0" marL="0" algn="r"><a:buNone /></a:pPr><a:r><a:rPr /><a:t>100</a:t></a:r></a:p></a:txBody></a:tc><a:tc><a:txBody><a:bodyPr /><a:lstStyle /><a:p><a:pPr lvl="0" indent="0" marL="0" algn="r"><a:buNone /></a:pPr><a:r><a:rPr /><a:t>664</a:t></a:r></a:p></a:txBody></a:tc><a:tc><a:txBody><a:bodyPr /><a:lstStyle /><a:p><a:pPr lvl="0" indent="0" marL="0" algn="r"><a:buNone /></a:pPr><a:r><a:rPr /><a:t>10 000</a:t></a:r></a:p></a:txBody></a:tc><a:tc><a:txBody><a:bodyPr /><a:lstStyle /><a:p><a:pPr lvl="0" indent="0" marL="0" algn="r"><a:buNone /></a:pPr><a:r><a:rPr /><a:t>极大</a:t></a:r></a:p></a:txBody></a:tc></a:tr><a:tr h="0"><a:tc><a:txBody><a:bodyPr /><a:lstStyle /><a:p><a:pPr lvl="0" indent="0" marL="0" algn="r"><a:buNone /></a:pPr><a:r><a:rPr /><a:t>1 000 000</a:t></a:r></a:p></a:txBody></a:tc><a:tc><a:txBody><a:bodyPr /><a:lstStyle /><a:p><a:pPr lvl="0" indent="0" marL="0" algn="r"><a:buNone /></a:pPr><a:r><a:rPr /><a:t>20</a:t></a:r></a:p></a:txBody></a:tc><a:tc><a:txBody><a:bodyPr /><a:lstStyle /><a:p><a:pPr lvl="0" indent="0" marL="0" algn="r"><a:buNone /></a:pPr><a:r><a:rPr /><a:t>1 000 000</a:t></a:r></a:p></a:txBody></a:tc><a:tc><a:txBody><a:bodyPr /><a:lstStyle /><a:p><a:pPr lvl="0" indent="0" marL="0" algn="r"><a:buNone /></a:pPr><a:r><a:rPr /><a:t>19 931 569</a:t></a:r></a:p></a:txBody></a:tc><a:tc><a:txBody><a:bodyPr /><a:lstStyle /><a:p><a:pPr lvl="0" indent="0" marL="0" algn="r"><a:buNone /></a:pPr><a14:m><m:oMath xmlns:m="http://schemas.openxmlformats.org/officeDocument/2006/math"><m:sSup><m:e><m:r><m:t>10</m:t></m:r></m:e><m:sup><m:r><m:t>12</m:t></m:r></m:sup></m:sSup></m:oMath></a14:m></a:p></a:txBody></a:tc><a:tc><a:txBody><a:bodyPr /><a:lstStyle /><a:p><a:pPr lvl="0" indent="0" marL="0" algn="r"><a:buNone /></a:pPr><a:r><a:rPr /><a:t>不可行</a:t></a:r></a:p></a:txBody></a:tc></a:tr></a:tbl></a:graphicData></a:graphic></p:graphicFrame></p:spTree></p:cSld>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当数据规模变大，低阶复杂度的优势会迅速放大。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分析循环：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sum_values(values):</a:t>
                </a:r>
                <a:br/>
                <a:r>
                  <a:rPr>
                    <a:latin typeface="Courier"/>
                  </a:rPr>
                  <a:t>    total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value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values:</a:t>
                </a:r>
                <a:br/>
                <a:r>
                  <a:rPr>
                    <a:latin typeface="Courier"/>
                  </a:rPr>
                  <a:t>        total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+=</a:t>
                </a:r>
                <a:r>
                  <a:rPr>
                    <a:latin typeface="Courier"/>
                  </a:rPr>
                  <a:t> value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total</a:t>
                </a:r>
                <a:br/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(sum_values([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5</a:t>
                </a:r>
                <a:r>
                  <a:rPr>
                    <a:latin typeface="Courier"/>
                  </a:rPr>
                  <a:t>]))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15</a:t>
                </a:r>
              </a:p>
              <a:p>
                <a:pPr lvl="0"/>
                <a:r>
                  <a:rPr/>
                  <a:t>循环执行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次</a:t>
                </a:r>
              </a:p>
              <a:p>
                <a:pPr lvl="0"/>
                <a:r>
                  <a:rPr/>
                  <a:t>每次循环为常数时间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a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嵌套循环：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has_duplicate(values):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i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range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len</a:t>
                </a:r>
                <a:r>
                  <a:rPr>
                    <a:latin typeface="Courier"/>
                  </a:rPr>
                  <a:t>(values)):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j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range</a:t>
                </a:r>
                <a:r>
                  <a:rPr>
                    <a:latin typeface="Courier"/>
                  </a:rPr>
                  <a:t>(i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len</a:t>
                </a:r>
                <a:r>
                  <a:rPr>
                    <a:latin typeface="Courier"/>
                  </a:rPr>
                  <a:t>(values)):</a:t>
                </a:r>
                <a:br/>
                <a:r>
                  <a:rPr>
                    <a:latin typeface="Courier"/>
                  </a:rPr>
                  <a:t>    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if</a:t>
                </a:r>
                <a:r>
                  <a:rPr>
                    <a:latin typeface="Courier"/>
                  </a:rPr>
                  <a:t> values[i]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==</a:t>
                </a:r>
                <a:r>
                  <a:rPr>
                    <a:latin typeface="Courier"/>
                  </a:rPr>
                  <a:t> values[j]:</a:t>
                </a:r>
                <a:br/>
                <a:r>
                  <a:rPr>
                    <a:latin typeface="Courier"/>
                  </a:rPr>
                  <a:t>        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19177C"/>
                    </a:solidFill>
                    <a:latin typeface="Courier"/>
                  </a:rPr>
                  <a:t>True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19177C"/>
                    </a:solidFill>
                    <a:latin typeface="Courier"/>
                  </a:rPr>
                  <a:t>False</a:t>
                </a:r>
                <a:br/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(has_duplicate([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7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</a:t>
                </a:r>
                <a:r>
                  <a:rPr>
                    <a:latin typeface="Courier"/>
                  </a:rPr>
                  <a:t>]))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True</a:t>
                </a:r>
              </a:p>
              <a:p>
                <a:pPr lvl="0" indent="0" marL="0">
                  <a:buNone/>
                </a:pPr>
                <a:r>
                  <a:rPr/>
                  <a:t>最坏情况下大约比较：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n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)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因此时间复杂度是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。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连续代码块：相加后取最大项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>
                    <a:latin typeface="Courier"/>
                  </a:rPr>
                  <a:t>values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[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10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20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30</a:t>
                </a:r>
                <a:r>
                  <a:rPr>
                    <a:latin typeface="Courier"/>
                  </a:rPr>
                  <a:t>]</a:t>
                </a:r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value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values:      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O(n)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pass</a:t>
                </a:r>
                <a:br/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i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range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len</a:t>
                </a:r>
                <a:r>
                  <a:rPr>
                    <a:latin typeface="Courier"/>
                  </a:rPr>
                  <a:t>(values)):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O(n)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j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range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len</a:t>
                </a:r>
                <a:r>
                  <a:rPr>
                    <a:latin typeface="Courier"/>
                  </a:rPr>
                  <a:t>(values)):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pass</a:t>
                </a:r>
                <a:r>
                  <a:rPr>
                    <a:latin typeface="Courier"/>
                  </a:rPr>
                  <a:t>                  </a:t>
                </a:r>
                <a:r>
                  <a:rPr i="1">
                    <a:solidFill>
                      <a:srgbClr val="60A0B0"/>
                    </a:solidFill>
                    <a:latin typeface="Courier"/>
                  </a:rPr>
                  <a:t># O(n²)</a:t>
                </a:r>
                <a:br/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"两个循环块执行完成"</a:t>
                </a:r>
                <a:r>
                  <a:rPr>
                    <a:latin typeface="Courier"/>
                  </a:rPr>
                  <a:t>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两个循环块执行完成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n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n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 b="1"/>
                  <a:t>规则：</a:t>
                </a:r>
                <a:r>
                  <a:rPr/>
                  <a:t>连续语句的复杂度相加，最终保留最高阶项。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对半缩小：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binary_search(values, target):</a:t>
                </a:r>
                <a:br/>
                <a:r>
                  <a:rPr>
                    <a:latin typeface="Courier"/>
                  </a:rPr>
                  <a:t>    left, right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len</a:t>
                </a:r>
                <a:r>
                  <a:rPr>
                    <a:latin typeface="Courier"/>
                  </a:rPr>
                  <a:t>(values)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while</a:t>
                </a:r>
                <a:r>
                  <a:rPr>
                    <a:latin typeface="Courier"/>
                  </a:rPr>
                  <a:t> left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&lt;=</a:t>
                </a:r>
                <a:r>
                  <a:rPr>
                    <a:latin typeface="Courier"/>
                  </a:rPr>
                  <a:t> right:</a:t>
                </a:r>
                <a:br/>
                <a:r>
                  <a:rPr>
                    <a:latin typeface="Courier"/>
                  </a:rPr>
                  <a:t>        middle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(left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right)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//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if</a:t>
                </a:r>
                <a:r>
                  <a:rPr>
                    <a:latin typeface="Courier"/>
                  </a:rPr>
                  <a:t> values[middle]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==</a:t>
                </a:r>
                <a:r>
                  <a:rPr>
                    <a:latin typeface="Courier"/>
                  </a:rPr>
                  <a:t> target:</a:t>
                </a:r>
                <a:br/>
                <a:r>
                  <a:rPr>
                    <a:latin typeface="Courier"/>
                  </a:rPr>
                  <a:t>    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middle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if</a:t>
                </a:r>
                <a:r>
                  <a:rPr>
                    <a:latin typeface="Courier"/>
                  </a:rPr>
                  <a:t> values[middle]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&lt;</a:t>
                </a:r>
                <a:r>
                  <a:rPr>
                    <a:latin typeface="Courier"/>
                  </a:rPr>
                  <a:t> target:</a:t>
                </a:r>
                <a:br/>
                <a:r>
                  <a:rPr>
                    <a:latin typeface="Courier"/>
                  </a:rPr>
                  <a:t>            left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middle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else</a:t>
                </a:r>
                <a:r>
                  <a:rPr>
                    <a:latin typeface="Courier"/>
                  </a:rPr>
                  <a:t>:</a:t>
                </a:r>
                <a:br/>
                <a:r>
                  <a:rPr>
                    <a:latin typeface="Courier"/>
                  </a:rPr>
                  <a:t>            right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middle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br/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(binary_search([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5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7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9</a:t>
                </a:r>
                <a:r>
                  <a:rPr>
                    <a:latin typeface="Courier"/>
                  </a:rPr>
                  <a:t>],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7</a:t>
                </a:r>
                <a:r>
                  <a:rPr>
                    <a:latin typeface="Courier"/>
                  </a:rPr>
                  <a:t>))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3</a:t>
                </a:r>
              </a:p>
              <a:p>
                <a:pPr lvl="0" indent="0" marL="0">
                  <a:buNone/>
                </a:pPr>
                <a:r>
                  <a:rPr/>
                  <a:t>每次比较都将搜索范围缩小一半，因此：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n</m:t>
                          </m:r>
                        </m:num>
                        <m:den>
                          <m:sSup>
                            <m:e>
                              <m:r>
                                <m:t>2</m:t>
                              </m:r>
                            </m:e>
                            <m:sup>
                              <m:r>
                                <m:t>k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⇒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log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t>n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关键前提：二分查找需要有序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二分查找快，但有一个前提：</a:t>
                </a:r>
              </a:p>
              <a:p>
                <a:pPr lvl="0" indent="0" marL="1270000">
                  <a:buNone/>
                </a:pPr>
                <a:r>
                  <a:rPr sz="2000" b="1"/>
                  <a:t>Warning</a:t>
                </a:r>
              </a:p>
              <a:p>
                <a:pPr lvl="0" indent="0" marL="1270000">
                  <a:buNone/>
                </a:pPr>
                <a:r>
                  <a:rPr sz="2000"/>
                  <a:t>输入序列必须已经按同一规则排序。</a:t>
                </a:r>
              </a:p>
              <a:p>
                <a:pPr lvl="0"/>
                <a:r>
                  <a:rPr/>
                  <a:t>已排序、只查一次：二分查找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/>
                  <a:t>无序、只查一次：线性查找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通常更合适</a:t>
                </a:r>
              </a:p>
              <a:p>
                <a:pPr lvl="0"/>
                <a:r>
                  <a:rPr/>
                  <a:t>无序、查很多次：先排序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，再多次二分查找</a:t>
                </a:r>
              </a:p>
            </p:txBody>
          </p:sp>
        </mc:Choice>
      </mc:AlternateContent>
    </p:spTree>
  </p:cSld>
</p:sld>
</file>

<file path=ppt/slides/slide16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最好、最坏与平均情况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以线性查找为例：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4381500" /></p:xfrm><a:graphic><a:graphicData uri="http://schemas.openxmlformats.org/drawingml/2006/table"><a:tbl><a:tblPr firstRow="1" bandRow="1"><a:tableStyleId>{5C22544A-7EE6-4342-B048-85BDC9FD1C3A}</a:tableStyleId></a:tblPr><a:tblGrid><a:gridCol w="1701800" /><a:gridCol w="1701800" /><a:gridCol w="1701800" /></a:tblGrid><a:tr h="0"><a:tc><a:txBody><a:bodyPr /><a:lstStyle /><a:p><a:pPr lvl="0" indent="0" marL="0"><a:buNone /></a:pPr><a:r><a:rPr /><a:t>情况</a:t></a:r></a:p></a:txBody><a:tcPr /></a:tc><a:tc><a:txBody><a:bodyPr /><a:lstStyle /><a:p><a:pPr lvl="0" indent="0" marL="0"><a:buNone /></a:pPr><a:r><a:rPr /><a:t>目标位置</a:t></a:r></a:p></a:txBody><a:tcPr /></a:tc><a:tc><a:txBody><a:bodyPr /><a:lstStyle /><a:p><a:pPr lvl="0" indent="0" marL="0"><a:buNone /></a:pPr><a:r><a:rPr /><a:t>时间复杂度</a:t></a:r></a:p></a:txBody><a:tcPr /></a:tc></a:tr><a:tr h="0"><a:tc><a:txBody><a:bodyPr /><a:lstStyle /><a:p><a:pPr lvl="0" indent="0" marL="0"><a:buNone /></a:pPr><a:r><a:rPr /><a:t>最好情况</a:t></a:r></a:p></a:txBody></a:tc><a:tc><a:txBody><a:bodyPr /><a:lstStyle /><a:p><a:pPr lvl="0" indent="0" marL="0"><a:buNone /></a:pPr><a:r><a:rPr /><a:t>第一个元素</a:t></a:r></a:p></a:txBody></a:tc><a:tc><a:txBody><a:bodyPr /><a:lstStyle /><a:p><a:pPr lvl="0" indent="0" marL="0"><a:buNone /></a:pPr><a14:m><m:oMath xmlns:m="http://schemas.openxmlformats.org/officeDocument/2006/math"><m:r><m:t>O</m:t></m:r><m:r><m:rPr><m:sty m:val="p" /></m:rPr><m:t>(</m:t></m:r><m:r><m:t>1</m:t></m:r><m:r><m:rPr><m:sty m:val="p" /></m:rPr><m:t>)</m:t></m:r></m:oMath></a14:m></a:p></a:txBody></a:tc></a:tr><a:tr h="0"><a:tc><a:txBody><a:bodyPr /><a:lstStyle /><a:p><a:pPr lvl="0" indent="0" marL="0"><a:buNone /></a:pPr><a:r><a:rPr /><a:t>最坏情况</a:t></a:r></a:p></a:txBody></a:tc><a:tc><a:txBody><a:bodyPr /><a:lstStyle /><a:p><a:pPr lvl="0" indent="0" marL="0"><a:buNone /></a:pPr><a:r><a:rPr /><a:t>最后一个元素或不存在</a:t></a:r></a:p></a:txBody></a:tc><a:tc><a:txBody><a:bodyPr /><a:lstStyle /><a:p><a:pPr lvl="0" indent="0" marL="0"><a:buNone /></a:pPr><a14:m><m:oMath xmlns:m="http://schemas.openxmlformats.org/officeDocument/2006/math"><m:r><m:t>O</m:t></m:r><m:r><m:rPr><m:sty m:val="p" /></m:rPr><m:t>(</m:t></m:r><m:r><m:t>n</m:t></m:r><m:r><m:rPr><m:sty m:val="p" /></m:rPr><m:t>)</m:t></m:r></m:oMath></a14:m></a:p></a:txBody></a:tc></a:tr><a:tr h="0"><a:tc><a:txBody><a:bodyPr /><a:lstStyle /><a:p><a:pPr lvl="0" indent="0" marL="0"><a:buNone /></a:pPr><a:r><a:rPr /><a:t>平均情况</a:t></a:r></a:p></a:txBody></a:tc><a:tc><a:txBody><a:bodyPr /><a:lstStyle /><a:p><a:pPr lvl="0" indent="0" marL="0"><a:buNone /></a:pPr><a:r><a:rPr /><a:t>中间附近</a:t></a:r></a:p></a:txBody></a:tc><a:tc><a:txBody><a:bodyPr /><a:lstStyle /><a:p><a:pPr lvl="0" indent="0" marL="0"><a:buNone /></a:pPr><a14:m><m:oMath xmlns:m="http://schemas.openxmlformats.org/officeDocument/2006/math"><m:r><m:t>O</m:t></m:r><m:r><m:rPr><m:sty m:val="p" /></m:rPr><m:t>(</m:t></m:r><m:r><m:t>n</m:t></m:r><m:r><m:rPr><m:sty m:val="p" /></m:rPr><m:t>)</m:t></m:r></m:oMath></a14:m></a:p></a:txBody></a:tc></a:tr></a:tbl></a:graphicData></a:graphic></p:graphicFrame></p:spTree></p:cSld>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默认讨论大 O 时，通常采用</a:t>
            </a:r>
            <a:r>
              <a:rPr b="1"/>
              <a:t>最坏情况</a:t>
            </a:r>
            <a:r>
              <a:rPr/>
              <a:t>，因为它提供性能上界。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递归示例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>
                  <a:buNone/>
                </a:pPr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factorial(n):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if</a:t>
                </a:r>
                <a:r>
                  <a:rPr>
                    <a:latin typeface="Courier"/>
                  </a:rPr>
                  <a:t> n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&lt;=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: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n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*</a:t>
                </a:r>
                <a:r>
                  <a:rPr>
                    <a:latin typeface="Courier"/>
                  </a:rPr>
                  <a:t> factorial(n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-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)</a:t>
                </a:r>
                <a:br/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(factorial(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5</a:t>
                </a:r>
                <a:r>
                  <a:rPr>
                    <a:latin typeface="Courier"/>
                  </a:rPr>
                  <a:t>))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120</a:t>
                </a:r>
              </a:p>
              <a:p>
                <a:pPr lvl="0"/>
                <a:r>
                  <a:rPr/>
                  <a:t>递归深度为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</a:p>
              <a:p>
                <a:pPr lvl="0"/>
                <a:r>
                  <a:rPr/>
                  <a:t>每一层只做常数工作</a:t>
                </a:r>
              </a:p>
              <a:p>
                <a:pPr lvl="0" indent="0" marL="0">
                  <a:buNone/>
                </a:pPr>
                <a:r>
                  <a:rPr/>
                  <a:t>时间复杂度：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br/>
                <a:r>
                  <a:rPr/>
                  <a:t>额外空间复杂度：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（递归调用栈）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易混淆点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b="1"/>
                  <a:t> 不等于“有两个循环”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n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5</a:t>
                </a:r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i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range</a:t>
                </a:r>
                <a:r>
                  <a:rPr>
                    <a:latin typeface="Courier"/>
                  </a:rPr>
                  <a:t>(n):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pass</a:t>
                </a:r>
                <a:br/>
                <a:br/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j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range</a:t>
                </a:r>
                <a:r>
                  <a:rPr>
                    <a:latin typeface="Courier"/>
                  </a:rPr>
                  <a:t>(n):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pass</a:t>
                </a:r>
                <a:br/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"两个循环块执行完成"</a:t>
                </a:r>
                <a:r>
                  <a:rPr>
                    <a:latin typeface="Courier"/>
                  </a:rPr>
                  <a:t>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两个循环块执行完成</a:t>
                </a:r>
              </a:p>
              <a:p>
                <a:pPr lvl="0" indent="0" marL="0">
                  <a:buNone/>
                </a:pPr>
                <a:r>
                  <a:rPr/>
                  <a:t>两个循环是</a:t>
                </a:r>
                <a:r>
                  <a:rPr b="1"/>
                  <a:t>先后执行</a:t>
                </a:r>
                <a:r>
                  <a:rPr/>
                  <a:t>，总次数为 </a:t>
                </a:r>
                <a14:m>
                  <m:oMath xmlns:m="http://schemas.openxmlformats.org/officeDocument/2006/math">
                    <m:r>
                      <m:t>n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t>n</m:t>
                    </m:r>
                  </m:oMath>
                </a14:m>
                <a:r>
                  <a:rPr/>
                  <a:t>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只有循环相互嵌套时，才会相乘。</a:t>
                </a:r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课堂练习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分析下面代码的时间复杂度：</a:t>
                </a:r>
              </a:p>
              <a:p>
                <a:pPr lvl="0" indent="0">
                  <a:buNone/>
                </a:pPr>
                <a:r>
                  <a:rPr b="1">
                    <a:solidFill>
                      <a:srgbClr val="007020"/>
                    </a:solidFill>
                    <a:latin typeface="Courier"/>
                  </a:rPr>
                  <a:t>def</a:t>
                </a:r>
                <a:r>
                  <a:rPr>
                    <a:latin typeface="Courier"/>
                  </a:rPr>
                  <a:t> count_pairs(values):</a:t>
                </a:r>
                <a:br/>
                <a:r>
                  <a:rPr>
                    <a:latin typeface="Courier"/>
                  </a:rPr>
                  <a:t>    count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0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i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range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len</a:t>
                </a:r>
                <a:r>
                  <a:rPr>
                    <a:latin typeface="Courier"/>
                  </a:rPr>
                  <a:t>(values)):</a:t>
                </a:r>
                <a:br/>
                <a:r>
                  <a:rPr>
                    <a:latin typeface="Courier"/>
                  </a:rPr>
                  <a:t>    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for</a:t>
                </a:r>
                <a:r>
                  <a:rPr>
                    <a:latin typeface="Courier"/>
                  </a:rPr>
                  <a:t> j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in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range</a:t>
                </a:r>
                <a:r>
                  <a:rPr>
                    <a:latin typeface="Courier"/>
                  </a:rPr>
                  <a:t>(i, </a:t>
                </a:r>
                <a:r>
                  <a:rPr>
                    <a:solidFill>
                      <a:srgbClr val="008000"/>
                    </a:solidFill>
                    <a:latin typeface="Courier"/>
                  </a:rPr>
                  <a:t>len</a:t>
                </a:r>
                <a:r>
                  <a:rPr>
                    <a:latin typeface="Courier"/>
                  </a:rPr>
                  <a:t>(values),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</a:t>
                </a:r>
                <a:r>
                  <a:rPr>
                    <a:latin typeface="Courier"/>
                  </a:rPr>
                  <a:t>):</a:t>
                </a:r>
                <a:br/>
                <a:r>
                  <a:rPr>
                    <a:latin typeface="Courier"/>
                  </a:rPr>
                  <a:t>            count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+=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br/>
                <a:r>
                  <a:rPr>
                    <a:latin typeface="Courier"/>
                  </a:rPr>
                  <a:t>    </a:t>
                </a:r>
                <a:r>
                  <a:rPr b="1">
                    <a:solidFill>
                      <a:srgbClr val="007020"/>
                    </a:solidFill>
                    <a:latin typeface="Courier"/>
                  </a:rPr>
                  <a:t>return</a:t>
                </a:r>
                <a:r>
                  <a:rPr>
                    <a:latin typeface="Courier"/>
                  </a:rPr>
                  <a:t> count</a:t>
                </a:r>
                <a:br/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(count_pairs([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1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2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3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4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5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A070"/>
                    </a:solidFill>
                    <a:latin typeface="Courier"/>
                  </a:rPr>
                  <a:t>6</a:t>
                </a:r>
                <a:r>
                  <a:rPr>
                    <a:latin typeface="Courier"/>
                  </a:rPr>
                  <a:t>]))</a:t>
                </a:r>
              </a:p>
              <a:p>
                <a:pPr lvl="0" indent="0">
                  <a:buNone/>
                </a:pPr>
                <a:r>
                  <a:rPr>
                    <a:latin typeface="Courier"/>
                  </a:rPr>
                  <a:t>12</a:t>
                </a:r>
              </a:p>
              <a:p>
                <a:pPr lvl="0" indent="0" marL="0">
                  <a:buNone/>
                </a:pPr>
                <a:r>
                  <a:rPr b="1"/>
                  <a:t>答案：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。内层循环虽然每次步长为 2，但仍与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成正比；常数不会改变复杂度等级。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选择算法时的思考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输入规模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可能有多大？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操作需要执行一次，还是重复很多次？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数据是否已排序？是否允许修改数据？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时间与空间能否互换？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最坏情况是否可接受？</a:t>
                </a:r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/>
                  <a:t>先选择合适的数据结构和算法，再考虑微小的代码优化。</a:t>
                </a:r>
              </a:p>
            </p:txBody>
          </p:sp>
        </mc:Choice>
      </mc:AlternateContent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小结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时间复杂度描述算法随输入规模增长的趋势</a:t>
                </a:r>
              </a:p>
              <a:p>
                <a:pPr lvl="0"/>
                <a:r>
                  <a:rPr/>
                  <a:t>大 O 忽略常数和低阶项，关注最高阶增长率</a:t>
                </a:r>
              </a:p>
              <a:p>
                <a:pPr lvl="0"/>
                <a:r>
                  <a:rPr/>
                  <a:t>顺序结构相加，嵌套结构相乘，规模减半常见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/>
                  <a:t>常见复杂度从优到劣：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&lt;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log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&lt;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&lt;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log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&lt;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n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&lt;</m:t>
                      </m:r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2</m:t>
                          </m:r>
                        </m:e>
                        <m:sup>
                          <m: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思考题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如何将“判断列表中是否有重复元素”的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解法，改进为更快的算法？</a:t>
                </a:r>
              </a:p>
              <a:p>
                <a:pPr lvl="0" indent="0" marL="0">
                  <a:buNone/>
                </a:pPr>
                <a:r>
                  <a:rPr/>
                  <a:t>提示：能否利用集合（</a:t>
                </a:r>
                <a:r>
                  <a:rPr>
                    <a:latin typeface="Courier"/>
                  </a:rPr>
                  <a:t>set</a:t>
                </a:r>
                <a:r>
                  <a:rPr/>
                  <a:t>）记录已经出现过的元素？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时间复杂度</dc:title>
  <dc:creator>数据结构</dc:creator>
  <cp:keywords/>
  <dcterms:created xsi:type="dcterms:W3CDTF">2026-10-14T13:17:21Z</dcterms:created>
  <dcterms:modified xsi:type="dcterms:W3CDTF">2026-10-14T13:17:21Z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jupyter">
    <vt:lpwstr>python3</vt:lpwstr>
  </property>
  <property fmtid="{D5CDD505-2E9C-101B-9397-08002B2CF9AE}" pid="10" name="labels">
    <vt:lpwstr/>
  </property>
  <property fmtid="{D5CDD505-2E9C-101B-9397-08002B2CF9AE}" pid="11" name="subtitle">
    <vt:lpwstr>用增长率刻画算法效率</vt:lpwstr>
  </property>
  <property fmtid="{D5CDD505-2E9C-101B-9397-08002B2CF9AE}" pid="12" name="toc-title">
    <vt:lpwstr>Table of contents</vt:lpwstr>
  </property>
</Properties>
</file>